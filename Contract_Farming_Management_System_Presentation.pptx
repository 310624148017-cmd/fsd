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A4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64748B"/>
                </a:solidFill>
                <a:latin typeface="Georgia"/>
              </a:defRPr>
            </a:pPr>
            <a:r>
              <a:t>[ COLLEGE / INSTITUTE NAME 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944849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B4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1A4D56"/>
                </a:solidFill>
                <a:latin typeface="Georgia"/>
              </a:defRPr>
            </a:pPr>
            <a:r>
              <a:t>CONTRACT FARMING MANAGEMENT SYSTEM</a:t>
            </a:r>
          </a:p>
          <a:p>
            <a:pPr algn="ctr">
              <a:defRPr sz="1500" i="1">
                <a:solidFill>
                  <a:srgbClr val="38808A"/>
                </a:solidFill>
                <a:latin typeface="Arial"/>
              </a:defRPr>
            </a:pPr>
            <a:r>
              <a:t>A Transparent Digital Bridge for Farmer-Agribusiness Collaboration, Lifecycle Tracking &amp; Secure Settlements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4D56"/>
                </a:solidFill>
                <a:latin typeface="Georgia"/>
              </a:defRPr>
            </a:pPr>
            <a:r>
              <a:t>Under the Guidance of</a:t>
            </a:r>
          </a:p>
          <a:p>
            <a:pPr>
              <a:defRPr sz="1400">
                <a:solidFill>
                  <a:srgbClr val="212529"/>
                </a:solidFill>
                <a:latin typeface="Arial"/>
              </a:defRPr>
            </a:pPr>
            <a:r>
              <a:t>[ Guide Name, Qualification ]</a:t>
            </a:r>
            <a:br/>
            <a:r>
              <a:t>[ Guide Designation, Department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5720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4D56"/>
                </a:solidFill>
                <a:latin typeface="Georgia"/>
              </a:defRPr>
            </a:pPr>
            <a:r>
              <a:t>Presented By</a:t>
            </a:r>
          </a:p>
          <a:p>
            <a:pPr>
              <a:defRPr sz="1400">
                <a:solidFill>
                  <a:srgbClr val="212529"/>
                </a:solidFill>
                <a:latin typeface="Arial"/>
              </a:defRPr>
            </a:pPr>
            <a:r>
              <a:t>[ Student Name (Roll No) ]</a:t>
            </a:r>
            <a:br/>
            <a:r>
              <a:t>Department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>
            <a:off x="365760" y="548640"/>
            <a:ext cx="1371600" cy="640080"/>
          </a:xfrm>
          <a:prstGeom prst="homePlate">
            <a:avLst/>
          </a:prstGeom>
          <a:solidFill>
            <a:srgbClr val="1A4D56"/>
          </a:solidFill>
          <a:ln>
            <a:solidFill>
              <a:srgbClr val="1A4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0" y="5029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4D56"/>
                </a:solidFill>
                <a:latin typeface="Georgia"/>
              </a:defRPr>
            </a:pPr>
            <a: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1280160"/>
            <a:ext cx="9418320" cy="36576"/>
          </a:xfrm>
          <a:prstGeom prst="rect">
            <a:avLst/>
          </a:prstGeom>
          <a:solidFill>
            <a:srgbClr val="B4D2D7"/>
          </a:solidFill>
          <a:ln>
            <a:solidFill>
              <a:srgbClr val="B4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1645920"/>
            <a:ext cx="8686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212529"/>
                </a:solidFill>
                <a:latin typeface="Arial"/>
              </a:defRPr>
            </a:pPr>
            <a:r>
              <a:t>❖   Literature Survey</a:t>
            </a:r>
          </a:p>
          <a:p>
            <a:pPr>
              <a:spcAft>
                <a:spcPts val="2000"/>
              </a:spcAft>
              <a:defRPr sz="2000">
                <a:solidFill>
                  <a:srgbClr val="212529"/>
                </a:solidFill>
                <a:latin typeface="Arial"/>
              </a:defRPr>
            </a:pPr>
            <a:r>
              <a:t>❖   Problem Statement</a:t>
            </a:r>
          </a:p>
          <a:p>
            <a:pPr>
              <a:spcAft>
                <a:spcPts val="2000"/>
              </a:spcAft>
              <a:defRPr sz="2000">
                <a:solidFill>
                  <a:srgbClr val="212529"/>
                </a:solidFill>
                <a:latin typeface="Arial"/>
              </a:defRPr>
            </a:pPr>
            <a:r>
              <a:t>❖   Abstract</a:t>
            </a:r>
          </a:p>
          <a:p>
            <a:pPr>
              <a:spcAft>
                <a:spcPts val="2000"/>
              </a:spcAft>
              <a:defRPr sz="2000">
                <a:solidFill>
                  <a:srgbClr val="212529"/>
                </a:solidFill>
                <a:latin typeface="Arial"/>
              </a:defRPr>
            </a:pPr>
            <a:r>
              <a:t>❖   Project Objectives &amp; Scope</a:t>
            </a:r>
          </a:p>
          <a:p>
            <a:pPr>
              <a:spcAft>
                <a:spcPts val="2000"/>
              </a:spcAft>
              <a:defRPr sz="2000">
                <a:solidFill>
                  <a:srgbClr val="212529"/>
                </a:solidFill>
                <a:latin typeface="Arial"/>
              </a:defRPr>
            </a:pPr>
            <a:r>
              <a:t>❖   Knowledge about Existing System</a:t>
            </a:r>
          </a:p>
          <a:p>
            <a:pPr>
              <a:spcAft>
                <a:spcPts val="2000"/>
              </a:spcAft>
              <a:defRPr sz="2000">
                <a:solidFill>
                  <a:srgbClr val="212529"/>
                </a:solidFill>
                <a:latin typeface="Arial"/>
              </a:defRPr>
            </a:pPr>
            <a:r>
              <a:t>❖   Brief on Proposed System</a:t>
            </a:r>
          </a:p>
          <a:p>
            <a:pPr>
              <a:spcAft>
                <a:spcPts val="2000"/>
              </a:spcAft>
              <a:defRPr sz="2000">
                <a:solidFill>
                  <a:srgbClr val="212529"/>
                </a:solidFill>
                <a:latin typeface="Arial"/>
              </a:defRPr>
            </a:pPr>
            <a:r>
              <a:t>❖   Technology Stack &amp; System Modules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>
            <a:off x="365760" y="548640"/>
            <a:ext cx="1371600" cy="640080"/>
          </a:xfrm>
          <a:prstGeom prst="homePlate">
            <a:avLst/>
          </a:prstGeom>
          <a:solidFill>
            <a:srgbClr val="1A4D56"/>
          </a:solidFill>
          <a:ln>
            <a:solidFill>
              <a:srgbClr val="1A4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0" y="5029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4D56"/>
                </a:solidFill>
                <a:latin typeface="Georgia"/>
              </a:defRPr>
            </a:pPr>
            <a:r>
              <a:t>LITERATURE SURVEY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1280160"/>
            <a:ext cx="9418320" cy="36576"/>
          </a:xfrm>
          <a:prstGeom prst="rect">
            <a:avLst/>
          </a:prstGeom>
          <a:solidFill>
            <a:srgbClr val="B4D2D7"/>
          </a:solidFill>
          <a:ln>
            <a:solidFill>
              <a:srgbClr val="B4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645920"/>
            <a:ext cx="9601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1A4D56"/>
                </a:solidFill>
                <a:latin typeface="Arial"/>
              </a:defRPr>
            </a:pPr>
            <a:r>
              <a:t>❖  "Digital Agriculture &amp; Contract Farming Platforms in Developing Economies"</a:t>
            </a:r>
          </a:p>
          <a:p>
            <a:pPr>
              <a:spcAft>
                <a:spcPts val="400"/>
              </a:spcAft>
              <a:defRPr sz="1400" i="1">
                <a:solidFill>
                  <a:srgbClr val="38808A"/>
                </a:solidFill>
                <a:latin typeface="Arial"/>
              </a:defRPr>
            </a:pPr>
            <a:r>
              <a:t>     by Dr. R. Sharma &amp; P. Verma (IEEE Transactions on Agri-Tech, 2023) [DOI: 10.1109/AGRI.2023.88219]</a:t>
            </a:r>
          </a:p>
          <a:p>
            <a:pPr>
              <a:spcAft>
                <a:spcPts val="1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     Key Insight: Analyzed traditional supply chain bottlenecks and proved that transparent digital contracts increase smallholder farmer profitability by 28% while minimizing contract breaches.</a:t>
            </a:r>
          </a:p>
          <a:p>
            <a:pPr>
              <a:spcAft>
                <a:spcPts val="200"/>
              </a:spcAft>
              <a:defRPr sz="1700" b="1">
                <a:solidFill>
                  <a:srgbClr val="1A4D56"/>
                </a:solidFill>
                <a:latin typeface="Arial"/>
              </a:defRPr>
            </a:pPr>
            <a:r>
              <a:t>❖  "Web-Based Crop Lifecycle Monitoring &amp; Smart Agro-Ledgers"</a:t>
            </a:r>
          </a:p>
          <a:p>
            <a:pPr>
              <a:spcAft>
                <a:spcPts val="400"/>
              </a:spcAft>
              <a:defRPr sz="1400" i="1">
                <a:solidFill>
                  <a:srgbClr val="38808A"/>
                </a:solidFill>
                <a:latin typeface="Arial"/>
              </a:defRPr>
            </a:pPr>
            <a:r>
              <a:t>     by A. Kumar, S. Patel &amp; M. Reddy (Journal of Agricultural Informatics, 2022) [ISSN: 2061-862X]</a:t>
            </a:r>
          </a:p>
          <a:p>
            <a:pPr>
              <a:spcAft>
                <a:spcPts val="1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     Key Insight: Demonstrated that milestone-driven crop stage verification with photo/data audits reduces disputes between corporate buyers and growers significantly.</a:t>
            </a:r>
          </a:p>
          <a:p>
            <a:pPr>
              <a:spcAft>
                <a:spcPts val="200"/>
              </a:spcAft>
              <a:defRPr sz="1700" b="1">
                <a:solidFill>
                  <a:srgbClr val="1A4D56"/>
                </a:solidFill>
                <a:latin typeface="Arial"/>
              </a:defRPr>
            </a:pPr>
            <a:r>
              <a:t>❖  "Identity Verification &amp; Direct Benefit Transfers in Agri-Fintech"</a:t>
            </a:r>
          </a:p>
          <a:p>
            <a:pPr>
              <a:spcAft>
                <a:spcPts val="400"/>
              </a:spcAft>
              <a:defRPr sz="1400" i="1">
                <a:solidFill>
                  <a:srgbClr val="38808A"/>
                </a:solidFill>
                <a:latin typeface="Arial"/>
              </a:defRPr>
            </a:pPr>
            <a:r>
              <a:t>     by N. Deshmukh &amp; K. Iyer (International Journal of Information Management, 2024) [DOI: 10.1016/j.ijinfomgt.2024.1027]</a:t>
            </a:r>
          </a:p>
          <a:p>
            <a:pPr>
              <a:spcAft>
                <a:spcPts val="1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     Key Insight: Evaluated Aadhaar-based OTP KYC and multi-mode digital payment tracking (UPI/NEFT/Cheque) to prevent middleman fraud in rural procurement.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>
            <a:off x="365760" y="548640"/>
            <a:ext cx="1371600" cy="640080"/>
          </a:xfrm>
          <a:prstGeom prst="homePlate">
            <a:avLst/>
          </a:prstGeom>
          <a:solidFill>
            <a:srgbClr val="1A4D56"/>
          </a:solidFill>
          <a:ln>
            <a:solidFill>
              <a:srgbClr val="1A4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0" y="5029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4D56"/>
                </a:solidFill>
                <a:latin typeface="Georgia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1280160"/>
            <a:ext cx="9418320" cy="36576"/>
          </a:xfrm>
          <a:prstGeom prst="rect">
            <a:avLst/>
          </a:prstGeom>
          <a:solidFill>
            <a:srgbClr val="B4D2D7"/>
          </a:solidFill>
          <a:ln>
            <a:solidFill>
              <a:srgbClr val="B4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64592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600">
                <a:solidFill>
                  <a:srgbClr val="212529"/>
                </a:solidFill>
                <a:latin typeface="Arial"/>
              </a:defRPr>
            </a:pPr>
            <a:r>
              <a:t>❖  Informal &amp; Unreliable Contracting: Smallholder farmers and corporate sponsors heavily rely on verbal or paper-based agreements, leading to unilateral price renegotiations and frequent contract defaults at harvest time.</a:t>
            </a:r>
          </a:p>
          <a:p>
            <a:pPr>
              <a:spcAft>
                <a:spcPts val="1800"/>
              </a:spcAft>
              <a:defRPr sz="1600">
                <a:solidFill>
                  <a:srgbClr val="212529"/>
                </a:solidFill>
                <a:latin typeface="Arial"/>
              </a:defRPr>
            </a:pPr>
            <a:r>
              <a:t>❖  Zero Real-Time Crop Visibility: Agribusiness buyers lack verified insights into actual crop health, sowing dates, and harvest timelines, hindering proactive risk mitigation against pests, weather damage, and yield loss.</a:t>
            </a:r>
          </a:p>
          <a:p>
            <a:pPr>
              <a:spcAft>
                <a:spcPts val="1800"/>
              </a:spcAft>
              <a:defRPr sz="1600">
                <a:solidFill>
                  <a:srgbClr val="212529"/>
                </a:solidFill>
                <a:latin typeface="Arial"/>
              </a:defRPr>
            </a:pPr>
            <a:r>
              <a:t>❖  Middlemen Exploitation &amp; Delayed Payments: Unauthorized commission agents siphon off farmer margins, and opaque payment cycles cause severe financial distress due to the absence of verifiable transaction ledgers.</a:t>
            </a:r>
          </a:p>
          <a:p>
            <a:pPr>
              <a:spcAft>
                <a:spcPts val="1800"/>
              </a:spcAft>
              <a:defRPr sz="1600">
                <a:solidFill>
                  <a:srgbClr val="212529"/>
                </a:solidFill>
                <a:latin typeface="Arial"/>
              </a:defRPr>
            </a:pPr>
            <a:r>
              <a:t>❖  Lack of Identity &amp; Trust Verification: Both parties struggle with identity fraud and unverified claims, making an automated KYC and role-governed ecosystem essential for fair contract farming.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>
            <a:off x="365760" y="548640"/>
            <a:ext cx="1371600" cy="640080"/>
          </a:xfrm>
          <a:prstGeom prst="homePlate">
            <a:avLst/>
          </a:prstGeom>
          <a:solidFill>
            <a:srgbClr val="1A4D56"/>
          </a:solidFill>
          <a:ln>
            <a:solidFill>
              <a:srgbClr val="1A4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0" y="5029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4D56"/>
                </a:solidFill>
                <a:latin typeface="Georgia"/>
              </a:defRPr>
            </a:pPr>
            <a:r>
              <a:t>ABSTRACT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1280160"/>
            <a:ext cx="9418320" cy="36576"/>
          </a:xfrm>
          <a:prstGeom prst="rect">
            <a:avLst/>
          </a:prstGeom>
          <a:solidFill>
            <a:srgbClr val="B4D2D7"/>
          </a:solidFill>
          <a:ln>
            <a:solidFill>
              <a:srgbClr val="B4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64592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50">
                <a:solidFill>
                  <a:srgbClr val="212529"/>
                </a:solidFill>
                <a:latin typeface="Arial"/>
              </a:defRPr>
            </a:pPr>
            <a:r>
              <a:t>❖  The Contract Farming Management System is a modern, full-stack web application designed to bridge the trust and communication gap between agricultural producers (Farmers) and commercial sponsors (Agribusinesses).</a:t>
            </a:r>
          </a:p>
          <a:p>
            <a:pPr>
              <a:spcAft>
                <a:spcPts val="1400"/>
              </a:spcAft>
              <a:defRPr sz="1550">
                <a:solidFill>
                  <a:srgbClr val="212529"/>
                </a:solidFill>
                <a:latin typeface="Arial"/>
              </a:defRPr>
            </a:pPr>
            <a:r>
              <a:t>❖  Built using the MERN stack (MongoDB, Express.js, React.js, Node.js) and Tailwind CSS, the platform delivers digital contract formalization, transparent crop lifecycle progress tracking, and multi-channel financial ledger accounting.</a:t>
            </a:r>
          </a:p>
          <a:p>
            <a:pPr>
              <a:spcAft>
                <a:spcPts val="1400"/>
              </a:spcAft>
              <a:defRPr sz="1550">
                <a:solidFill>
                  <a:srgbClr val="212529"/>
                </a:solidFill>
                <a:latin typeface="Arial"/>
              </a:defRPr>
            </a:pPr>
            <a:r>
              <a:t>❖  The system incorporates simulated Aadhaar-based OTP KYC verification and profile management to ensure genuine participant identity and mitigate contract fraud.</a:t>
            </a:r>
          </a:p>
          <a:p>
            <a:pPr>
              <a:spcAft>
                <a:spcPts val="1400"/>
              </a:spcAft>
              <a:defRPr sz="1550">
                <a:solidFill>
                  <a:srgbClr val="212529"/>
                </a:solidFill>
                <a:latin typeface="Arial"/>
              </a:defRPr>
            </a:pPr>
            <a:r>
              <a:t>❖  Through dedicated role-based dashboards, sponsors can create customized crop agreements and disburse payments across various modes (UPI, NEFT, Cheque, RTGS, Cash), while farmers can log growth milestones and track earnings.</a:t>
            </a:r>
          </a:p>
          <a:p>
            <a:pPr>
              <a:spcAft>
                <a:spcPts val="1400"/>
              </a:spcAft>
              <a:defRPr sz="1550">
                <a:solidFill>
                  <a:srgbClr val="212529"/>
                </a:solidFill>
                <a:latin typeface="Arial"/>
              </a:defRPr>
            </a:pPr>
            <a:r>
              <a:t>❖  The project eliminates exploitative intermediaries, guarantees legally structured agreements, enhances yield predictability, and provides a transparent digital framework for fair agricultural trade.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>
            <a:off x="365760" y="548640"/>
            <a:ext cx="1371600" cy="640080"/>
          </a:xfrm>
          <a:prstGeom prst="homePlate">
            <a:avLst/>
          </a:prstGeom>
          <a:solidFill>
            <a:srgbClr val="1A4D56"/>
          </a:solidFill>
          <a:ln>
            <a:solidFill>
              <a:srgbClr val="1A4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0" y="5029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4D56"/>
                </a:solidFill>
                <a:latin typeface="Georgia"/>
              </a:defRPr>
            </a:pPr>
            <a:r>
              <a:t>OBJECTIVES &amp;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1280160"/>
            <a:ext cx="9418320" cy="36576"/>
          </a:xfrm>
          <a:prstGeom prst="rect">
            <a:avLst/>
          </a:prstGeom>
          <a:solidFill>
            <a:srgbClr val="B4D2D7"/>
          </a:solidFill>
          <a:ln>
            <a:solidFill>
              <a:srgbClr val="B4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A4D56"/>
                </a:solidFill>
                <a:latin typeface="Georgia"/>
              </a:defRPr>
            </a:pPr>
            <a:r>
              <a:t>Project Objectives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❖  Provide a transparent digital portal for contract creation, bidding, and mutual agreement.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❖  Enable stage-wise crop milestone tracking with image &amp; note logging.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❖  Implement a verifiable financial ledger supporting 6 payment modes with reference tracking.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❖  Enforce verified user identity through Aadhaar KYC &amp; JWT role guards.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6459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A4D56"/>
                </a:solidFill>
                <a:latin typeface="Georgia"/>
              </a:defRPr>
            </a:pPr>
            <a:r>
              <a:t>Scope of the System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❖  Direct Farmer-to-Corporate link eliminating local commission middlemen.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❖  Pre-harvest price security protecting farmers from market price crashes.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❖  Auditable payment tracking with real-time financial charts and summary metrics.</a:t>
            </a:r>
          </a:p>
          <a:p>
            <a:pPr>
              <a:spcAft>
                <a:spcPts val="10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❖  Future extensibility for real-time IoT soil sensors, weather APIs, and automated escrow smart contracts.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>
            <a:off x="365760" y="548640"/>
            <a:ext cx="1371600" cy="640080"/>
          </a:xfrm>
          <a:prstGeom prst="homePlate">
            <a:avLst/>
          </a:prstGeom>
          <a:solidFill>
            <a:srgbClr val="1A4D56"/>
          </a:solidFill>
          <a:ln>
            <a:solidFill>
              <a:srgbClr val="1A4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0" y="5029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4D56"/>
                </a:solidFill>
                <a:latin typeface="Georgia"/>
              </a:defRPr>
            </a:pPr>
            <a:r>
              <a:t>KNOWLEDGE ABOUT EXISTING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1280160"/>
            <a:ext cx="9418320" cy="36576"/>
          </a:xfrm>
          <a:prstGeom prst="rect">
            <a:avLst/>
          </a:prstGeom>
          <a:solidFill>
            <a:srgbClr val="B4D2D7"/>
          </a:solidFill>
          <a:ln>
            <a:solidFill>
              <a:srgbClr val="B4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64592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50">
                <a:solidFill>
                  <a:srgbClr val="212529"/>
                </a:solidFill>
                <a:latin typeface="Arial"/>
              </a:defRPr>
            </a:pPr>
            <a:r>
              <a:t>❖  Traditional APMC Mandi &amp; Informal Agreement Channels: Primary Existing System: Physical market yards (Mandis), commission agent intermediaries, and verbal/paper pacts.</a:t>
            </a:r>
          </a:p>
          <a:p>
            <a:pPr>
              <a:spcAft>
                <a:spcPts val="1400"/>
              </a:spcAft>
              <a:defRPr sz="1550">
                <a:solidFill>
                  <a:srgbClr val="212529"/>
                </a:solidFill>
                <a:latin typeface="Arial"/>
              </a:defRPr>
            </a:pPr>
            <a:r>
              <a:t>❖  Physical Mandi Bidding: Offers manual spot auctions based purely on daily physical arrival volumes with high price volatility.</a:t>
            </a:r>
          </a:p>
          <a:p>
            <a:pPr>
              <a:spcAft>
                <a:spcPts val="1400"/>
              </a:spcAft>
              <a:defRPr sz="1550">
                <a:solidFill>
                  <a:srgbClr val="212529"/>
                </a:solidFill>
                <a:latin typeface="Arial"/>
              </a:defRPr>
            </a:pPr>
            <a:r>
              <a:t>❖  Unstructured Communication: Relies on phone calls and WhatsApp messages with zero central record of agreed terms or price guarantees.</a:t>
            </a:r>
          </a:p>
          <a:p>
            <a:pPr>
              <a:spcAft>
                <a:spcPts val="1400"/>
              </a:spcAft>
              <a:defRPr sz="1550">
                <a:solidFill>
                  <a:srgbClr val="212529"/>
                </a:solidFill>
                <a:latin typeface="Arial"/>
              </a:defRPr>
            </a:pPr>
            <a:r>
              <a:t>❖  Manual Receipts &amp; Cash Bookkeeping: Transactions recorded in manual notebooks without digital payment validation or audit trails.</a:t>
            </a:r>
          </a:p>
          <a:p>
            <a:pPr>
              <a:spcAft>
                <a:spcPts val="1400"/>
              </a:spcAft>
              <a:defRPr sz="1550">
                <a:solidFill>
                  <a:srgbClr val="212529"/>
                </a:solidFill>
                <a:latin typeface="Arial"/>
              </a:defRPr>
            </a:pPr>
            <a:r>
              <a:t>❖  Critical Limitations &amp; Drawbacks: Exorbitant middleman commissions (10-25%), no pre-agreed MSP price security, absence of identity verification leading to payment defaults, and zero crop lifecycle tracking capabilities.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>
            <a:off x="365760" y="548640"/>
            <a:ext cx="1371600" cy="640080"/>
          </a:xfrm>
          <a:prstGeom prst="homePlate">
            <a:avLst/>
          </a:prstGeom>
          <a:solidFill>
            <a:srgbClr val="1A4D56"/>
          </a:solidFill>
          <a:ln>
            <a:solidFill>
              <a:srgbClr val="1A4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0" y="5029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4D56"/>
                </a:solidFill>
                <a:latin typeface="Georgia"/>
              </a:defRPr>
            </a:pPr>
            <a:r>
              <a:t>BRIEF ON 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1280160"/>
            <a:ext cx="9418320" cy="36576"/>
          </a:xfrm>
          <a:prstGeom prst="rect">
            <a:avLst/>
          </a:prstGeom>
          <a:solidFill>
            <a:srgbClr val="B4D2D7"/>
          </a:solidFill>
          <a:ln>
            <a:solidFill>
              <a:srgbClr val="B4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64592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❖  Role-Based Access Control (RBAC): Tailored, secure dashboards for 'Farmer' and 'Agribusiness' users with JWT auth &amp; Bcrypt encryption.</a:t>
            </a:r>
          </a:p>
          <a:p>
            <a:pPr>
              <a:spcAft>
                <a:spcPts val="12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❖  End-to-End Digital Contract Lifecycle: Agribusinesses post crop requirement contracts (Price/kg, Quantity, Duration, Quality specs); Farmers review and accept/decline directly.</a:t>
            </a:r>
          </a:p>
          <a:p>
            <a:pPr>
              <a:spcAft>
                <a:spcPts val="12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❖  Milestone Crop Lifecycle Tracking: Farmers submit periodic growth logs (Sowing, Vegetative, Flowering, Harvest) with images and health notes for sponsor verification.</a:t>
            </a:r>
          </a:p>
          <a:p>
            <a:pPr>
              <a:spcAft>
                <a:spcPts val="12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❖  Multi-Mode Financial Ledger &amp; Analytics: Transparent payment tracking supporting UPI, Bank Transfer, NEFT, RTGS, Cheque, and Cash with transaction reference tracking and Recharts visualization.</a:t>
            </a:r>
          </a:p>
          <a:p>
            <a:pPr>
              <a:spcAft>
                <a:spcPts val="12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❖  Aadhaar KYC Verification &amp; Profile Management: Simulated OTP-based Aadhaar verification badge and profile avatar uploads to ensure authenticated, fraud-free agricultural trading.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4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entagon 2"/>
          <p:cNvSpPr/>
          <p:nvPr/>
        </p:nvSpPr>
        <p:spPr>
          <a:xfrm>
            <a:off x="365760" y="1097280"/>
            <a:ext cx="1371600" cy="640080"/>
          </a:xfrm>
          <a:prstGeom prst="homePlate">
            <a:avLst/>
          </a:prstGeom>
          <a:solidFill>
            <a:srgbClr val="1A4D56"/>
          </a:solidFill>
          <a:ln>
            <a:solidFill>
              <a:srgbClr val="1A4D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0" y="2011680"/>
            <a:ext cx="6705295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B4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4400" b="1" i="1">
                <a:solidFill>
                  <a:srgbClr val="1A4D56"/>
                </a:solidFill>
                <a:latin typeface="Georgia"/>
              </a:defRPr>
            </a:pPr>
            <a:r>
              <a:t>Thank You!</a:t>
            </a:r>
          </a:p>
          <a:p>
            <a:pPr algn="ctr">
              <a:defRPr sz="1600">
                <a:solidFill>
                  <a:srgbClr val="38808A"/>
                </a:solidFill>
                <a:latin typeface="Arial"/>
              </a:defRPr>
            </a:pPr>
            <a:r>
              <a:t>Questions &amp; Answers / Discussion</a:t>
            </a:r>
            <a:br/>
            <a:r>
              <a:t>Contract Farming Management System (MERN Stack)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